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411480"/>
            <a:ext cx="2240280" cy="2240280"/>
          </a:xfrm>
          <a:prstGeom prst="ellipse">
            <a:avLst/>
          </a:prstGeom>
          <a:solidFill>
            <a:srgbClr val="18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1261872"/>
            <a:ext cx="1051560" cy="1051560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34472" y="2331720"/>
            <a:ext cx="566928" cy="566928"/>
          </a:xfrm>
          <a:prstGeom prst="ellipse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2926080"/>
            <a:ext cx="420624" cy="420624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829800" y="1874519"/>
            <a:ext cx="1097280" cy="740665"/>
          </a:xfrm>
          <a:prstGeom prst="line">
            <a:avLst/>
          </a:prstGeom>
          <a:ln w="25400">
            <a:solidFill>
              <a:srgbClr val="5270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613648" y="2240280"/>
            <a:ext cx="758952" cy="850392"/>
          </a:xfrm>
          <a:prstGeom prst="line">
            <a:avLst/>
          </a:prstGeom>
          <a:ln w="25400">
            <a:solidFill>
              <a:srgbClr val="5270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012680" y="868680"/>
            <a:ext cx="45720" cy="941832"/>
          </a:xfrm>
          <a:prstGeom prst="line">
            <a:avLst/>
          </a:prstGeom>
          <a:ln w="25400">
            <a:solidFill>
              <a:srgbClr val="5270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09560" y="3657600"/>
            <a:ext cx="3611880" cy="1417320"/>
          </a:xfrm>
          <a:prstGeom prst="roundRect">
            <a:avLst/>
          </a:prstGeom>
          <a:solidFill>
            <a:srgbClr val="18344E"/>
          </a:solidFill>
          <a:ln w="12700">
            <a:solidFill>
              <a:srgbClr val="365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3913632"/>
            <a:ext cx="1325880" cy="274320"/>
          </a:xfrm>
          <a:prstGeom prst="roundRect">
            <a:avLst/>
          </a:prstGeom>
          <a:solidFill>
            <a:srgbClr val="29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3945636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61D5C2"/>
                </a:solidFill>
                <a:latin typeface="Aptos"/>
              </a:defRPr>
            </a:pPr>
            <a:r>
              <a:t>MODEL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431596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Readmission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4645152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B2C4D0"/>
                </a:solidFill>
                <a:latin typeface="Aptos"/>
              </a:defRPr>
            </a:pPr>
            <a:r>
              <a:t>A secure prediction service - built for review, not autopilot.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758952"/>
            <a:ext cx="1572768" cy="274320"/>
          </a:xfrm>
          <a:prstGeom prst="roundRect">
            <a:avLst/>
          </a:prstGeom>
          <a:solidFill>
            <a:srgbClr val="2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790956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65D4C0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417320"/>
            <a:ext cx="6492240" cy="2331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Predicting</a:t>
            </a:r>
            <a:br/>
            <a:r>
              <a:t>30-day readmission</a:t>
            </a:r>
            <a:br/>
            <a: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41648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C8D6DF"/>
                </a:solidFill>
                <a:latin typeface="Aptos"/>
              </a:defRPr>
            </a:pPr>
            <a:r>
              <a:t>Machine learning meets a secure, observable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" y="4800600"/>
            <a:ext cx="5312664" cy="0"/>
          </a:xfrm>
          <a:prstGeom prst="line">
            <a:avLst/>
          </a:prstGeom>
          <a:ln w="12700">
            <a:solidFill>
              <a:srgbClr val="35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504748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7FE0CE"/>
                </a:solidFill>
                <a:latin typeface="Aptos"/>
              </a:defRPr>
            </a:pPr>
            <a:r>
              <a:t>RANDOM FOREST  |  FASTAPI  |  MYSQL  |  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53212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AFC1CD"/>
                </a:solidFill>
                <a:latin typeface="Aptos"/>
              </a:defRPr>
            </a:pPr>
            <a:r>
              <a:t>Decision support for care teams - never a substitute for clinical judgment.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33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9BBC8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9BBC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57734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43103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Turn encounter data into a reviewable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A practical workflow from structured hospital data to an auditable prediction.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3657600" cy="361188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2395728"/>
            <a:ext cx="1234440" cy="274320"/>
          </a:xfrm>
          <a:prstGeom prst="roundRect">
            <a:avLst/>
          </a:prstGeom>
          <a:solidFill>
            <a:srgbClr val="2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27732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73D9C6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52928"/>
            <a:ext cx="3063240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Can we flag</a:t>
            </a:r>
            <a:br/>
            <a:r>
              <a:t>readmission risk</a:t>
            </a:r>
            <a:br/>
            <a:r>
              <a:t>earlier?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90288"/>
            <a:ext cx="2880360" cy="6766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3D0D9"/>
                </a:solidFill>
                <a:latin typeface="Aptos"/>
              </a:defRPr>
            </a:pPr>
            <a:r>
              <a:t>For a 30-day outcome, using information recorded during the inpatient encounter.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139696"/>
            <a:ext cx="169164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171700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DESIGN PRINCIPLES</a:t>
            </a:r>
          </a:p>
        </p:txBody>
      </p:sp>
      <p:sp>
        <p:nvSpPr>
          <p:cNvPr id="16" name="Oval 15"/>
          <p:cNvSpPr/>
          <p:nvPr/>
        </p:nvSpPr>
        <p:spPr>
          <a:xfrm>
            <a:off x="4800600" y="2697480"/>
            <a:ext cx="393192" cy="393192"/>
          </a:xfrm>
          <a:prstGeom prst="ellipse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770632"/>
            <a:ext cx="393192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8833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Useful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97480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789"/>
                </a:solidFill>
                <a:latin typeface="Aptos"/>
              </a:defRPr>
            </a:pPr>
            <a:r>
              <a:t>A binary class and probability estimate from one consistent model pipeline.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3401568"/>
            <a:ext cx="5715000" cy="0"/>
          </a:xfrm>
          <a:prstGeom prst="line">
            <a:avLst/>
          </a:prstGeom>
          <a:ln w="1016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00600" y="3685032"/>
            <a:ext cx="393192" cy="393192"/>
          </a:xfrm>
          <a:prstGeom prst="ellipse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758184"/>
            <a:ext cx="393192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67588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85032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789"/>
                </a:solidFill>
                <a:latin typeface="Aptos"/>
              </a:defRPr>
            </a:pPr>
            <a:r>
              <a:t>A decision-support signal - not an autonomous clinical decision.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60" y="4389120"/>
            <a:ext cx="5715000" cy="0"/>
          </a:xfrm>
          <a:prstGeom prst="line">
            <a:avLst/>
          </a:prstGeom>
          <a:ln w="1016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00600" y="4672584"/>
            <a:ext cx="393192" cy="393192"/>
          </a:xfrm>
          <a:prstGeom prst="ellipse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745736"/>
            <a:ext cx="393192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6634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Operational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72584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789"/>
                </a:solidFill>
                <a:latin typeface="Aptos"/>
              </a:defRPr>
            </a:pPr>
            <a:r>
              <a:t>Authenticated access, protected data, observable requests, and controlled rollout.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57734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43103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A clinician-facing flow, backed by an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The same prediction engine serves a protected browser form and machine clients.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21408"/>
            <a:ext cx="288036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2395728"/>
            <a:ext cx="1024128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427732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01 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0364A"/>
                </a:solidFill>
                <a:latin typeface="Aptos"/>
              </a:defRPr>
            </a:pPr>
            <a:r>
              <a:t>Encounter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 i="0">
                <a:solidFill>
                  <a:srgbClr val="647789"/>
                </a:solidFill>
                <a:latin typeface="Aptos"/>
              </a:defRPr>
            </a:pPr>
            <a:r>
              <a:t>AGE BAND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3200400"/>
            <a:ext cx="987552" cy="283464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59836"/>
            <a:ext cx="832104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0364A"/>
                </a:solidFill>
                <a:latin typeface="Aptos"/>
              </a:defRPr>
            </a:pPr>
            <a:r>
              <a:t>50-60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 i="0">
                <a:solidFill>
                  <a:srgbClr val="647789"/>
                </a:solidFill>
                <a:latin typeface="Aptos"/>
              </a:defRPr>
            </a:pPr>
            <a:r>
              <a:t>ADMISSION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2848" y="3648456"/>
            <a:ext cx="987552" cy="283464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707891"/>
            <a:ext cx="832104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0364A"/>
                </a:solidFill>
                <a:latin typeface="Aptos"/>
              </a:defRPr>
            </a:pPr>
            <a:r>
              <a:t>Emergency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6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 i="0">
                <a:solidFill>
                  <a:srgbClr val="647789"/>
                </a:solidFill>
                <a:latin typeface="Aptos"/>
              </a:defRPr>
            </a:pPr>
            <a:r>
              <a:t>STAY 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12848" y="4096512"/>
            <a:ext cx="987552" cy="283464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155948"/>
            <a:ext cx="832104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0364A"/>
                </a:solidFill>
                <a:latin typeface="Aptos"/>
              </a:defRPr>
            </a:pPr>
            <a:r>
              <a:t>4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80" b="1" i="0">
                <a:solidFill>
                  <a:srgbClr val="647789"/>
                </a:solidFill>
                <a:latin typeface="Aptos"/>
              </a:defRPr>
            </a:pPr>
            <a:r>
              <a:t>CLINICAL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4544568"/>
            <a:ext cx="987552" cy="283464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604004"/>
            <a:ext cx="832104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0364A"/>
                </a:solidFill>
                <a:latin typeface="Aptos"/>
              </a:defRPr>
            </a:pPr>
            <a:r>
              <a:t>Optional features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30752" y="3401568"/>
            <a:ext cx="640080" cy="384048"/>
          </a:xfrm>
          <a:prstGeom prst="rightArrow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2359152"/>
            <a:ext cx="2423160" cy="292608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40680" y="2743200"/>
            <a:ext cx="640080" cy="640080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29260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2896" y="36210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059936"/>
            <a:ext cx="1783080" cy="7498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C2D0DA"/>
                </a:solidFill>
                <a:latin typeface="Aptos"/>
              </a:defRPr>
            </a:pPr>
            <a:r>
              <a:t>Validated inputs</a:t>
            </a:r>
            <a:br/>
            <a:r>
              <a:t>Preprocessing pipeline</a:t>
            </a:r>
            <a:br/>
            <a:r>
              <a:t>Cached inference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68896" y="3401568"/>
            <a:ext cx="640080" cy="384048"/>
          </a:xfrm>
          <a:prstGeom prst="rightArrow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28431" y="2121408"/>
            <a:ext cx="347472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02752" y="2395728"/>
            <a:ext cx="105156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2427732"/>
            <a:ext cx="905255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02 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8346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0364A"/>
                </a:solidFill>
                <a:latin typeface="Aptos"/>
              </a:defRPr>
            </a:pPr>
            <a:r>
              <a:t>Prediction returned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3383280"/>
            <a:ext cx="2907792" cy="105156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60273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CLASS + PROBABILITY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388620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Review with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736592"/>
            <a:ext cx="283464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789"/>
                </a:solidFill>
                <a:latin typeface="Aptos"/>
              </a:defRPr>
            </a:pPr>
            <a:r>
              <a:t>The estimate supports review; it never replaces clinical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421892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2755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DATA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Define the outcome before training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A clear target and disciplined split make the evaluation interpretable.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148840"/>
            <a:ext cx="2971800" cy="3419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423160"/>
            <a:ext cx="1353312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455164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LABEL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Source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383280"/>
            <a:ext cx="621792" cy="329184"/>
          </a:xfrm>
          <a:prstGeom prst="roundRect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3814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&lt;30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198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344728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1  |  within 30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13632"/>
            <a:ext cx="621792" cy="329184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9684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5020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3977640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0  |  no readmission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4443984"/>
            <a:ext cx="621792" cy="32918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4988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&gt;30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80560"/>
            <a:ext cx="237744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4507992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0  |  after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0749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47789"/>
                </a:solidFill>
                <a:latin typeface="Aptos"/>
              </a:defRPr>
            </a:pPr>
            <a:r>
              <a:t>Binary 30-day readmission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2212848"/>
            <a:ext cx="1865376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3672" y="224485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FEATURES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9663" y="26974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364A"/>
                </a:solidFill>
                <a:latin typeface="Aptos"/>
              </a:defRPr>
            </a:pPr>
            <a:r>
              <a:t>Structured encounter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246120"/>
            <a:ext cx="296265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52544" y="3429000"/>
            <a:ext cx="219456" cy="219456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336499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0364A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0016" y="3630168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47789"/>
                </a:solidFill>
                <a:latin typeface="Aptos"/>
              </a:defRPr>
            </a:pPr>
            <a:r>
              <a:t>Age band, race, gender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61504" y="3246120"/>
            <a:ext cx="296265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6096" y="3429000"/>
            <a:ext cx="219456" cy="219456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336499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0364A"/>
                </a:solidFill>
                <a:latin typeface="Aptos"/>
              </a:defRPr>
            </a:pPr>
            <a:r>
              <a:t>Admission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3630168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47789"/>
                </a:solidFill>
                <a:latin typeface="Aptos"/>
              </a:defRPr>
            </a:pPr>
            <a:r>
              <a:t>Type, source, disposition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4178808"/>
            <a:ext cx="296265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52544" y="4361688"/>
            <a:ext cx="219456" cy="219456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0016" y="42976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0364A"/>
                </a:solidFill>
                <a:latin typeface="Aptos"/>
              </a:defRPr>
            </a:pPr>
            <a:r>
              <a:t>Care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0016" y="456285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47789"/>
                </a:solidFill>
                <a:latin typeface="Aptos"/>
              </a:defRPr>
            </a:pPr>
            <a:r>
              <a:t>Diagnoses, labs, procedures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61504" y="4178808"/>
            <a:ext cx="296265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26096" y="4361688"/>
            <a:ext cx="219456" cy="219456"/>
          </a:xfrm>
          <a:prstGeom prst="ellipse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42976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20364A"/>
                </a:solidFill>
                <a:latin typeface="Aptos"/>
              </a:defRPr>
            </a:pPr>
            <a:r>
              <a:t>Medication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4562856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47789"/>
                </a:solidFill>
                <a:latin typeface="Aptos"/>
              </a:defRPr>
            </a:pPr>
            <a:r>
              <a:t>Diabetes medication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87952" y="5285232"/>
            <a:ext cx="6254496" cy="274320"/>
          </a:xfrm>
          <a:prstGeom prst="round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87952" y="5285232"/>
            <a:ext cx="4379976" cy="274320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53218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70% TRAIN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32180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0364A"/>
                </a:solidFill>
                <a:latin typeface="Aptos"/>
              </a:defRPr>
            </a:pPr>
            <a:r>
              <a:t>15%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532180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20364A"/>
                </a:solidFill>
                <a:latin typeface="Aptos"/>
              </a:defRPr>
            </a:pPr>
            <a:r>
              <a:t>15%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68756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 i="0">
                <a:solidFill>
                  <a:srgbClr val="647789"/>
                </a:solidFill>
                <a:latin typeface="Aptos"/>
              </a:defRPr>
            </a:pPr>
            <a:r>
              <a:t>Stratified split  |  IDs and label columns excluded from features  |  missing values imputed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732788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586484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A repeatable training and selection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Candidate models compete on validation data; the held-out test set stays separate.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975104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3" y="2642616"/>
            <a:ext cx="42062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5" y="26746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75304"/>
            <a:ext cx="1636776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647789"/>
                </a:solidFill>
                <a:latin typeface="Aptos"/>
              </a:defRPr>
            </a:pPr>
            <a:r>
              <a:t>Normalize missing values</a:t>
            </a:r>
            <a:br/>
            <a:r>
              <a:t>Exclude identifiers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2715768" y="3200400"/>
            <a:ext cx="237744" cy="347472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62656" y="2423160"/>
            <a:ext cx="1975104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36392" y="2642616"/>
            <a:ext cx="42062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26746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575304"/>
            <a:ext cx="1636776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647789"/>
                </a:solidFill>
                <a:latin typeface="Aptos"/>
              </a:defRPr>
            </a:pPr>
            <a:r>
              <a:t>Median imputation + scaling</a:t>
            </a:r>
            <a:br/>
            <a:r>
              <a:t>Categorical imputation + one-hot</a:t>
            </a:r>
          </a:p>
        </p:txBody>
      </p:sp>
      <p:sp>
        <p:nvSpPr>
          <p:cNvPr id="20" name="Chevron 19"/>
          <p:cNvSpPr/>
          <p:nvPr/>
        </p:nvSpPr>
        <p:spPr>
          <a:xfrm>
            <a:off x="5020056" y="3200400"/>
            <a:ext cx="237744" cy="347472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6944" y="2423160"/>
            <a:ext cx="1975104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2642616"/>
            <a:ext cx="42062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2" y="26746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575304"/>
            <a:ext cx="1636776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647789"/>
                </a:solidFill>
                <a:latin typeface="Aptos"/>
              </a:defRPr>
            </a:pPr>
            <a:r>
              <a:t>Logistic Regression</a:t>
            </a:r>
            <a:br/>
            <a:r>
              <a:t>Random Forest / Gradient Boosting</a:t>
            </a:r>
          </a:p>
        </p:txBody>
      </p:sp>
      <p:sp>
        <p:nvSpPr>
          <p:cNvPr id="26" name="Chevron 25"/>
          <p:cNvSpPr/>
          <p:nvPr/>
        </p:nvSpPr>
        <p:spPr>
          <a:xfrm>
            <a:off x="7324344" y="3200400"/>
            <a:ext cx="237744" cy="347472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71232" y="2423160"/>
            <a:ext cx="1975104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44968" y="2642616"/>
            <a:ext cx="42062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6746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4" y="3575304"/>
            <a:ext cx="1636776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647789"/>
                </a:solidFill>
                <a:latin typeface="Aptos"/>
              </a:defRPr>
            </a:pPr>
            <a:r>
              <a:t>Validation ROC AUC</a:t>
            </a:r>
            <a:br/>
            <a:r>
              <a:t>F1 breaks ties</a:t>
            </a:r>
          </a:p>
        </p:txBody>
      </p:sp>
      <p:sp>
        <p:nvSpPr>
          <p:cNvPr id="32" name="Chevron 31"/>
          <p:cNvSpPr/>
          <p:nvPr/>
        </p:nvSpPr>
        <p:spPr>
          <a:xfrm>
            <a:off x="9628632" y="3200400"/>
            <a:ext cx="237744" cy="347472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0" y="2423160"/>
            <a:ext cx="1975104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49256" y="2642616"/>
            <a:ext cx="42062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2408" y="26746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0364A"/>
                </a:solidFill>
                <a:latin typeface="Aptos"/>
              </a:defRPr>
            </a:pPr>
            <a:r>
              <a:t>Refit &amp;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3575304"/>
            <a:ext cx="1636776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647789"/>
                </a:solidFill>
                <a:latin typeface="Aptos"/>
              </a:defRPr>
            </a:pPr>
            <a:r>
              <a:t>Train + validation data</a:t>
            </a:r>
            <a:br/>
            <a:r>
              <a:t>Final test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010912"/>
            <a:ext cx="10844784" cy="74980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212080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8FE2D3"/>
                </a:solidFill>
                <a:latin typeface="Aptos"/>
              </a:defRPr>
            </a:pPr>
            <a:r>
              <a:t>SELECTED FOR CURRENT 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1389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3036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C8D6DF"/>
                </a:solidFill>
                <a:latin typeface="Aptos"/>
              </a:defRPr>
            </a:pPr>
            <a:r>
              <a:t>Production artifact: final_readmission_model.joblib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618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47789"/>
                </a:solidFill>
                <a:latin typeface="Aptos"/>
              </a:defRPr>
            </a:pPr>
            <a:r>
              <a:t>A new training run creates timestamped artifacts; promoting a model is a separate, explicit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18872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Useful signal - with honest performance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Selected Random Forest | current evaluation report | metrics are not a clinical guarantee.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21408"/>
            <a:ext cx="2788920" cy="3584448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2432304"/>
            <a:ext cx="1161288" cy="274320"/>
          </a:xfrm>
          <a:prstGeom prst="roundRect">
            <a:avLst/>
          </a:prstGeom>
          <a:solidFill>
            <a:srgbClr val="2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464308"/>
            <a:ext cx="1014984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7BE0CE"/>
                </a:solidFill>
                <a:latin typeface="Aptos"/>
              </a:defRPr>
            </a:pPr>
            <a:r>
              <a:t>HELD-OUT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71800"/>
            <a:ext cx="2148840" cy="8046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0" b="1" i="0">
                <a:solidFill>
                  <a:srgbClr val="FFFFFF"/>
                </a:solidFill>
                <a:latin typeface="Aptos"/>
              </a:defRPr>
            </a:pPr>
            <a:r>
              <a:t>0.702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221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8FE2D3"/>
                </a:solidFill>
                <a:latin typeface="Aptos"/>
              </a:defRPr>
            </a:pPr>
            <a:r>
              <a:t>ROC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2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C5D2DC"/>
                </a:solidFill>
                <a:latin typeface="Aptos"/>
              </a:defRPr>
            </a:pPr>
            <a:r>
              <a:t>Validation ROC AUC  0.694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56048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9BBC8"/>
                </a:solidFill>
                <a:latin typeface="Aptos"/>
              </a:defRPr>
            </a:pPr>
            <a:r>
              <a:t>Measures ranking discrimination, not calibration.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2219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HELD-OUT TEST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7432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2761488"/>
            <a:ext cx="5166360" cy="219456"/>
          </a:xfrm>
          <a:prstGeom prst="roundRect">
            <a:avLst/>
          </a:prstGeom>
          <a:solidFill>
            <a:srgbClr val="E7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0368" y="2761488"/>
            <a:ext cx="3360756" cy="219456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70464" y="27340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0.651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4015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0368" y="3419856"/>
            <a:ext cx="5166360" cy="219456"/>
          </a:xfrm>
          <a:prstGeom prst="roundRect">
            <a:avLst/>
          </a:prstGeom>
          <a:solidFill>
            <a:srgbClr val="E7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368" y="3419856"/>
            <a:ext cx="3199258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0464" y="339242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0.619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05993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4078223"/>
            <a:ext cx="5166360" cy="219456"/>
          </a:xfrm>
          <a:prstGeom prst="roundRect">
            <a:avLst/>
          </a:prstGeom>
          <a:solidFill>
            <a:srgbClr val="E7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30368" y="4078223"/>
            <a:ext cx="3241551" cy="219456"/>
          </a:xfrm>
          <a:prstGeom prst="roundRect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70464" y="4050791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0.627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183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0368" y="4736592"/>
            <a:ext cx="5166360" cy="219456"/>
          </a:xfrm>
          <a:prstGeom prst="roundRect">
            <a:avLst/>
          </a:prstGeom>
          <a:solidFill>
            <a:srgbClr val="E7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30368" y="4736592"/>
            <a:ext cx="3220265" cy="219456"/>
          </a:xfrm>
          <a:prstGeom prst="round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0464" y="47091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0364A"/>
                </a:solidFill>
                <a:latin typeface="Aptos"/>
              </a:defRPr>
            </a:pPr>
            <a:r>
              <a:t>0.623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6" y="5559552"/>
            <a:ext cx="70408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789"/>
                </a:solidFill>
                <a:latin typeface="Aptos"/>
              </a:defRPr>
            </a:pPr>
            <a:r>
              <a:t>Each metric answers a different question; threshold choice changes the precision-recall trade-off.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888236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741932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A small service with production-minded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Web experience, inference, encrypted persistence, and time-series monitoring are separate concerns.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231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423160"/>
            <a:ext cx="73152" cy="9601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587752"/>
            <a:ext cx="1655063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B8DEF"/>
                </a:solidFill>
                <a:latin typeface="Aptos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98648"/>
            <a:ext cx="1673351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20364A"/>
                </a:solidFill>
                <a:latin typeface="Aptos"/>
              </a:defRPr>
            </a:pPr>
            <a:r>
              <a:t>Browser  |  API caller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42316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2423160"/>
            <a:ext cx="73152" cy="9601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587752"/>
            <a:ext cx="197510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8A999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98648"/>
            <a:ext cx="1993392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20364A"/>
                </a:solidFill>
                <a:latin typeface="Aptos"/>
              </a:defRPr>
            </a:pPr>
            <a:r>
              <a:t>Auth  |  validation  | 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423160"/>
            <a:ext cx="217627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423160"/>
            <a:ext cx="73152" cy="960120"/>
          </a:xfrm>
          <a:prstGeom prst="rect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8775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8795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98648"/>
            <a:ext cx="1883664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20364A"/>
                </a:solidFill>
                <a:latin typeface="Aptos"/>
              </a:defRPr>
            </a:pPr>
            <a:r>
              <a:t>Preprocess  |  Random 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423160"/>
            <a:ext cx="2194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62288" y="2423160"/>
            <a:ext cx="73152" cy="96012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258775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2B84B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898648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20364A"/>
                </a:solidFill>
                <a:latin typeface="Aptos"/>
              </a:defRPr>
            </a:pPr>
            <a:r>
              <a:t>Class  |  probability</a:t>
            </a:r>
          </a:p>
        </p:txBody>
      </p:sp>
      <p:sp>
        <p:nvSpPr>
          <p:cNvPr id="25" name="Chevron 24"/>
          <p:cNvSpPr/>
          <p:nvPr/>
        </p:nvSpPr>
        <p:spPr>
          <a:xfrm>
            <a:off x="2852928" y="2715768"/>
            <a:ext cx="256032" cy="329184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5779008" y="2715768"/>
            <a:ext cx="256032" cy="329184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8641080" y="2715768"/>
            <a:ext cx="256032" cy="329184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498848" y="3401568"/>
            <a:ext cx="0" cy="484632"/>
          </a:xfrm>
          <a:prstGeom prst="line">
            <a:avLst/>
          </a:prstGeom>
          <a:ln w="1905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880360" y="3886200"/>
            <a:ext cx="1618488" cy="0"/>
          </a:xfrm>
          <a:prstGeom prst="line">
            <a:avLst/>
          </a:prstGeom>
          <a:ln w="1905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98848" y="3886200"/>
            <a:ext cx="1645920" cy="0"/>
          </a:xfrm>
          <a:prstGeom prst="line">
            <a:avLst/>
          </a:prstGeom>
          <a:ln w="1905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4187952"/>
            <a:ext cx="395020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15568" y="4407408"/>
            <a:ext cx="105156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439412"/>
            <a:ext cx="905255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818888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364A"/>
                </a:solidFill>
                <a:latin typeface="Aptos"/>
              </a:defRPr>
            </a:pPr>
            <a:r>
              <a:t>MySQL  |  encrypted payloads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11149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647789"/>
                </a:solidFill>
                <a:latin typeface="Aptos"/>
              </a:defRPr>
            </a:pPr>
            <a:r>
              <a:t>Request records  /  audit events  /  auth metadata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87568" y="418795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0" y="4407408"/>
            <a:ext cx="1298448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4439412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81888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0364A"/>
                </a:solidFill>
                <a:latin typeface="Aptos"/>
              </a:defRPr>
            </a:pPr>
            <a:r>
              <a:t>Prometheus  |  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111496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 i="0">
                <a:solidFill>
                  <a:srgbClr val="647789"/>
                </a:solidFill>
                <a:latin typeface="Aptos"/>
              </a:defRPr>
            </a:pPr>
            <a:r>
              <a:t>Latency  /  availability  /  audit coverage  /  pod readiness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77900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47789"/>
                </a:solidFill>
                <a:latin typeface="Aptos"/>
              </a:defRPr>
            </a:pPr>
            <a:r>
              <a:t>Containerized service  |  Compose for local use  |  Kubernetes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499616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PREDICTION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One endpoint - straightforward for humans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The same validated feature contract feeds the browser form and JSON API.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21408"/>
            <a:ext cx="10771632" cy="557784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258568"/>
            <a:ext cx="566928" cy="274320"/>
          </a:xfrm>
          <a:prstGeom prst="roundRect">
            <a:avLst/>
          </a:prstGeom>
          <a:solidFill>
            <a:srgbClr val="2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290572"/>
            <a:ext cx="420623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7BE0CE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2311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/predict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6771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C7D5DF"/>
                </a:solidFill>
                <a:latin typeface="Aptos"/>
              </a:defRPr>
            </a:pPr>
            <a:r>
              <a:t>Authorization: Bearer &lt;API_TOKEN&gt;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62656"/>
            <a:ext cx="5138928" cy="2350008"/>
          </a:xfrm>
          <a:prstGeom prst="roundRect">
            <a:avLst/>
          </a:prstGeom>
          <a:solidFill>
            <a:srgbClr val="18344E"/>
          </a:solidFill>
          <a:ln w="12700">
            <a:solidFill>
              <a:srgbClr val="1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BE0CE"/>
                </a:solidFill>
                <a:latin typeface="Aptos"/>
              </a:defRPr>
            </a:pPr>
            <a:r>
              <a:t>REQUEST  | 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75304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FFFFFF"/>
                </a:solidFill>
                <a:latin typeface="Cascadia Code"/>
              </a:defRPr>
            </a:pPr>
            <a:r>
              <a:t>{</a:t>
            </a:r>
            <a:br/>
            <a:r>
              <a:t>  "features": {</a:t>
            </a:r>
            <a:br/>
            <a:r>
              <a:t>    "race": "Caucasian",</a:t>
            </a:r>
            <a:br/>
            <a:r>
              <a:t>    "gender": "Female",</a:t>
            </a:r>
            <a:br/>
            <a:r>
              <a:t>    "age": "[50-60)",</a:t>
            </a:r>
            <a:br/>
            <a:r>
              <a:t>    "admission_type_id": 1,</a:t>
            </a:r>
            <a:br/>
            <a:r>
              <a:t>    "discharge_disposition_id": 1,</a:t>
            </a:r>
            <a:br/>
            <a:r>
              <a:t>    "admission_source_id": 7,</a:t>
            </a:r>
            <a:br/>
            <a:r>
              <a:t>    "time_in_hospital": 4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962656"/>
            <a:ext cx="5230368" cy="2350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1868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RESPONSE  | 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675887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0364A"/>
                </a:solidFill>
                <a:latin typeface="Cascadia Code"/>
              </a:defRPr>
            </a:pPr>
            <a:r>
              <a:t>{</a:t>
            </a:r>
            <a:br/>
            <a:r>
              <a:t>  "prediction": 1,</a:t>
            </a:r>
            <a:br/>
            <a:r>
              <a:t>  "probability": 0.51,</a:t>
            </a:r>
            <a:br/>
            <a:r>
              <a:t>  "model_name": "readmission_risk_model",</a:t>
            </a:r>
            <a:br/>
            <a:r>
              <a:t>  "status": "ok"</a:t>
            </a:r>
            <a:br/>
            <a: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5577840"/>
            <a:ext cx="10625328" cy="5029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74243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18A999"/>
                </a:solidFill>
                <a:latin typeface="Aptos"/>
              </a:defRPr>
            </a:pPr>
            <a:r>
              <a:t>Required: race | gender | age | admission type | discharge disposition | admission source | hospital stay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655064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ACCESS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Least exposure. Explicit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Identity, authorization, CSRF, encryption, and token revocation work together.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59152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587752"/>
            <a:ext cx="411480" cy="411480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8A999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Scrypt password hashes</a:t>
            </a:r>
            <a:br/>
            <a:r>
              <a:t>Admin / user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59152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67328" y="2587752"/>
            <a:ext cx="411480" cy="41148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269748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1821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5B8DEF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547872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8-hour session</a:t>
            </a:r>
            <a:br/>
            <a:r>
              <a:t>HttpOnly / SameSite / CSRF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359152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0256" y="2587752"/>
            <a:ext cx="411480" cy="411480"/>
          </a:xfrm>
          <a:prstGeom prst="ellipse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69748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1821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8795E"/>
                </a:solidFill>
                <a:latin typeface="Aptos"/>
              </a:defRPr>
            </a:pPr>
            <a:r>
              <a:t>API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547872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90-day Bearer token</a:t>
            </a:r>
            <a:br/>
            <a:r>
              <a:t>Hash stored / shown 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2015" y="2359152"/>
            <a:ext cx="2514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73184" y="2587752"/>
            <a:ext cx="411480" cy="41148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69748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1821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2B84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547872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0364A"/>
                </a:solidFill>
                <a:latin typeface="Aptos"/>
              </a:defRPr>
            </a:pPr>
            <a:r>
              <a:t>Fernet-encrypted payloads</a:t>
            </a:r>
            <a:br/>
            <a:r>
              <a:t>30-day retention by default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663440"/>
            <a:ext cx="10671048" cy="96012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8828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8FE2D3"/>
                </a:solidFill>
                <a:latin typeface="Aptos"/>
              </a:defRPr>
            </a:pPr>
            <a:r>
              <a:t>ACCESS LIFECYCLE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6352" y="4882896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Issue once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855464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-&gt;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882896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Use over HTTPS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4855464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-&gt;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82896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Revoke anytime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81888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B9C9D3"/>
                </a:solidFill>
                <a:latin typeface="Aptos"/>
              </a:defRPr>
            </a:pPr>
            <a:r>
              <a:t>Disable user / reset password also revokes tokens.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1616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47789"/>
                </a:solidFill>
                <a:latin typeface="Aptos"/>
              </a:defRPr>
            </a:pPr>
            <a:r>
              <a:t>Security boundary: encrypt data in transit with HTTPS; protect secrets, backups, and monitoring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421892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12755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Measure service health, not just model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Prometheus scrapes every 15 seconds; Grafana makes the operating signals visible.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04288"/>
            <a:ext cx="24871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04288"/>
            <a:ext cx="2487168" cy="64008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877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0364A"/>
                </a:solidFill>
                <a:latin typeface="Aptos"/>
              </a:defRPr>
            </a:pPr>
            <a:r>
              <a:t>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18A999"/>
                </a:solidFill>
                <a:latin typeface="Aptos"/>
              </a:defRPr>
            </a:pPr>
            <a:r>
              <a:t>7-day availability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6499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647789"/>
                </a:solidFill>
                <a:latin typeface="Aptos"/>
              </a:defRPr>
            </a:pPr>
            <a:r>
              <a:t>5xx responses excluded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04288"/>
            <a:ext cx="24871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304288"/>
            <a:ext cx="2487168" cy="6400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5877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0364A"/>
                </a:solidFill>
                <a:latin typeface="Aptos"/>
              </a:defRPr>
            </a:pPr>
            <a:r>
              <a:t>Under 500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2666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5B8DEF"/>
                </a:solidFill>
                <a:latin typeface="Aptos"/>
              </a:defRPr>
            </a:pPr>
            <a:r>
              <a:t>7-day p95 latency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36499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647789"/>
                </a:solidFill>
                <a:latin typeface="Aptos"/>
              </a:defRPr>
            </a:pPr>
            <a:r>
              <a:t>High-resolution histogram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304288"/>
            <a:ext cx="24871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2304288"/>
            <a:ext cx="2487168" cy="64008"/>
          </a:xfrm>
          <a:prstGeom prst="rect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5877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0364A"/>
                </a:solidFill>
                <a:latin typeface="Aptos"/>
              </a:defRPr>
            </a:pPr>
            <a:r>
              <a:t>15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2666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E8795E"/>
                </a:solidFill>
                <a:latin typeface="Aptos"/>
              </a:defRPr>
            </a:pPr>
            <a:r>
              <a:t>Prometheus scrape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36499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647789"/>
                </a:solidFill>
                <a:latin typeface="Aptos"/>
              </a:defRPr>
            </a:pPr>
            <a:r>
              <a:t>API /metrics endpoint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2015" y="2304288"/>
            <a:ext cx="24871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72015" y="2304288"/>
            <a:ext cx="2487168" cy="6400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5" y="258775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0364A"/>
                </a:solidFill>
                <a:latin typeface="Aptos"/>
              </a:defRPr>
            </a:pPr>
            <a:r>
              <a:t>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5" y="302666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9" b="1" i="0">
                <a:solidFill>
                  <a:srgbClr val="F2B84B"/>
                </a:solidFill>
                <a:latin typeface="Aptos"/>
              </a:defRPr>
            </a:pPr>
            <a:r>
              <a:t>Audit coverage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5" y="336499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647789"/>
                </a:solidFill>
                <a:latin typeface="Aptos"/>
              </a:defRPr>
            </a:pPr>
            <a:r>
              <a:t>Started vs terminal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4251960"/>
            <a:ext cx="196596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283964"/>
            <a:ext cx="181965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FROM REQUEST TO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36592"/>
            <a:ext cx="208483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4882896"/>
            <a:ext cx="178308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514807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0364A"/>
                </a:solidFill>
                <a:latin typeface="Aptos"/>
              </a:defRPr>
            </a:pPr>
            <a:r>
              <a:t>Metrics + structured audit</a:t>
            </a:r>
          </a:p>
        </p:txBody>
      </p:sp>
      <p:sp>
        <p:nvSpPr>
          <p:cNvPr id="34" name="Chevron 33"/>
          <p:cNvSpPr/>
          <p:nvPr/>
        </p:nvSpPr>
        <p:spPr>
          <a:xfrm>
            <a:off x="3090672" y="4946904"/>
            <a:ext cx="228600" cy="310896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02736" y="4736592"/>
            <a:ext cx="2084831" cy="74980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882896"/>
            <a:ext cx="178308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8FE2D3"/>
                </a:solidFill>
                <a:latin typeface="Aptos"/>
              </a:defRPr>
            </a:pPr>
            <a:r>
              <a:t>PROMETHEUS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514807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FFFFFF"/>
                </a:solidFill>
                <a:latin typeface="Aptos"/>
              </a:defRPr>
            </a:pPr>
            <a:r>
              <a:t>Scrape + SLO rules</a:t>
            </a:r>
          </a:p>
        </p:txBody>
      </p:sp>
      <p:sp>
        <p:nvSpPr>
          <p:cNvPr id="38" name="Chevron 37"/>
          <p:cNvSpPr/>
          <p:nvPr/>
        </p:nvSpPr>
        <p:spPr>
          <a:xfrm>
            <a:off x="5870448" y="4946904"/>
            <a:ext cx="228600" cy="310896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82512" y="4736592"/>
            <a:ext cx="208483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882896"/>
            <a:ext cx="178308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14807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0364A"/>
                </a:solidFill>
                <a:latin typeface="Aptos"/>
              </a:defRPr>
            </a:pPr>
            <a:r>
              <a:t>Latency + availability</a:t>
            </a:r>
          </a:p>
        </p:txBody>
      </p:sp>
      <p:sp>
        <p:nvSpPr>
          <p:cNvPr id="42" name="Chevron 41"/>
          <p:cNvSpPr/>
          <p:nvPr/>
        </p:nvSpPr>
        <p:spPr>
          <a:xfrm>
            <a:off x="8650224" y="4946904"/>
            <a:ext cx="228600" cy="310896"/>
          </a:xfrm>
          <a:prstGeom prst="chevron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62288" y="4736592"/>
            <a:ext cx="208483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4882896"/>
            <a:ext cx="178308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8A999"/>
                </a:solidFill>
                <a:latin typeface="Aptos"/>
              </a:defRPr>
            </a:pPr>
            <a:r>
              <a:t>PUSHGATEWAY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514807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 i="0">
                <a:solidFill>
                  <a:srgbClr val="20364A"/>
                </a:solidFill>
                <a:latin typeface="Aptos"/>
              </a:defRPr>
            </a:pPr>
            <a:r>
              <a:t>Startup + rollback 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79592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47789"/>
                </a:solidFill>
                <a:latin typeface="Aptos"/>
              </a:defRPr>
            </a:pPr>
            <a:r>
              <a:t>Cold-start metric = pod creation to readiness. It is not model-load or first-prediction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2199132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2052828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20364A"/>
                </a:solidFill>
                <a:latin typeface="Aptos"/>
              </a:defRPr>
            </a:pPr>
            <a:r>
              <a:t>Designed to start cleanly - and recover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647789"/>
                </a:solidFill>
                <a:latin typeface="Aptos"/>
              </a:defRPr>
            </a:pPr>
            <a:r>
              <a:t>Local Compose, Kubernetes rollout checks, health probes, and a rollback path.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47789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76272"/>
            <a:ext cx="4617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450592"/>
            <a:ext cx="73152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82596"/>
            <a:ext cx="58521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62072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364A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383280"/>
            <a:ext cx="3566160" cy="7589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789"/>
                </a:solidFill>
                <a:latin typeface="Aptos"/>
              </a:defRPr>
            </a:pPr>
            <a:r>
              <a:t>MySQL 8.4 + FastAPI</a:t>
            </a:r>
            <a:br/>
            <a:r>
              <a:t>Persistent named volume</a:t>
            </a:r>
            <a:br/>
            <a:r>
              <a:t>First-time script creates missing secrets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5272" y="2176272"/>
            <a:ext cx="5742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88736" y="2450592"/>
            <a:ext cx="914400" cy="274320"/>
          </a:xfrm>
          <a:prstGeom prst="roundRect">
            <a:avLst/>
          </a:prstGeom>
          <a:solidFill>
            <a:srgbClr val="DD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2482596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86207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20364A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383280"/>
            <a:ext cx="4297680" cy="7589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789"/>
                </a:solidFill>
                <a:latin typeface="Aptos"/>
              </a:defRPr>
            </a:pPr>
            <a:r>
              <a:t>Stateful MySQL  /  API Deployment</a:t>
            </a:r>
            <a:br/>
            <a:r>
              <a:t>Startup / readiness / liveness probes</a:t>
            </a:r>
            <a:br/>
            <a:r>
              <a:t>Prometheus + Grafana + Pushgateway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9011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47789"/>
                </a:solidFill>
                <a:latin typeface="Aptos"/>
              </a:defRPr>
            </a:pPr>
            <a:r>
              <a:t>SAFE CHANGE PATH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321808"/>
            <a:ext cx="384048" cy="384048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3153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1" y="5303520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0364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1" y="5559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647789"/>
                </a:solidFill>
                <a:latin typeface="Aptos"/>
              </a:defRPr>
            </a:pPr>
            <a:r>
              <a:t>new image tag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0360" y="5504688"/>
            <a:ext cx="530351" cy="0"/>
          </a:xfrm>
          <a:prstGeom prst="line">
            <a:avLst/>
          </a:prstGeom>
          <a:ln w="1524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11880" y="5321808"/>
            <a:ext cx="384048" cy="38404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543153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2" y="5303520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0364A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2" y="5559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647789"/>
                </a:solidFill>
                <a:latin typeface="Aptos"/>
              </a:defRPr>
            </a:pPr>
            <a:r>
              <a:t>pytest + Ruff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23560" y="5504688"/>
            <a:ext cx="530352" cy="0"/>
          </a:xfrm>
          <a:prstGeom prst="line">
            <a:avLst/>
          </a:prstGeom>
          <a:ln w="1524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355080" y="5321808"/>
            <a:ext cx="384048" cy="384048"/>
          </a:xfrm>
          <a:prstGeom prst="ellipse">
            <a:avLst/>
          </a:prstGeom>
          <a:solidFill>
            <a:srgbClr val="E87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543153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5303520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0364A"/>
                </a:solidFill>
                <a:latin typeface="Aptos"/>
              </a:defRPr>
            </a:pPr>
            <a:r>
              <a:t>ROLLOUT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5559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647789"/>
                </a:solidFill>
                <a:latin typeface="Aptos"/>
              </a:defRPr>
            </a:pPr>
            <a:r>
              <a:t>health checked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66760" y="5504688"/>
            <a:ext cx="530352" cy="0"/>
          </a:xfrm>
          <a:prstGeom prst="line">
            <a:avLst/>
          </a:prstGeom>
          <a:ln w="15240">
            <a:solidFill>
              <a:srgbClr val="D8E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098280" y="5321808"/>
            <a:ext cx="384048" cy="384048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543153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5303520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20364A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632" y="55595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647789"/>
                </a:solidFill>
                <a:latin typeface="Aptos"/>
              </a:defRPr>
            </a:pPr>
            <a:r>
              <a:t>undo on failure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384048"/>
            <a:ext cx="1110996" cy="274320"/>
          </a:xfrm>
          <a:prstGeom prst="roundRect">
            <a:avLst/>
          </a:prstGeom>
          <a:solidFill>
            <a:srgbClr val="18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16051"/>
            <a:ext cx="9646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18A999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Aptos"/>
              </a:defRPr>
            </a:pPr>
            <a:r>
              <a:t>A useful foundation - with clear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B2C4D0"/>
                </a:solidFill>
                <a:latin typeface="Aptos"/>
              </a:defRPr>
            </a:pPr>
            <a:r>
              <a:t>The service is deployable and measurable; clinical usefulness requires further validation.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335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7453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9BBC8"/>
                </a:solidFill>
                <a:latin typeface="Aptos"/>
              </a:defRPr>
            </a:pPr>
            <a:r>
              <a:t>READMISSION RISK  / 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A9BBC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76272"/>
            <a:ext cx="1645920" cy="274320"/>
          </a:xfrm>
          <a:prstGeom prst="roundRect">
            <a:avLst/>
          </a:prstGeom>
          <a:solidFill>
            <a:srgbClr val="2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08276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7BE0CE"/>
                </a:solidFill>
                <a:latin typeface="Aptos"/>
              </a:defRPr>
            </a:pPr>
            <a:r>
              <a:t>WHAT IS DELIVERED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2734056"/>
            <a:ext cx="164592" cy="164592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A complete browser + JSON prediction workflow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364991"/>
            <a:ext cx="164592" cy="164592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A reproducible, evaluated Random Forest pipeline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3995928"/>
            <a:ext cx="164592" cy="164592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68496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Role-based access, expiring tokens, and encrypted payload storage</a:t>
            </a:r>
          </a:p>
        </p:txBody>
      </p:sp>
      <p:sp>
        <p:nvSpPr>
          <p:cNvPr id="17" name="Oval 16"/>
          <p:cNvSpPr/>
          <p:nvPr/>
        </p:nvSpPr>
        <p:spPr>
          <a:xfrm>
            <a:off x="877824" y="4626864"/>
            <a:ext cx="164592" cy="164592"/>
          </a:xfrm>
          <a:prstGeom prst="ellipse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99431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Deployment checks, health probes, and monitoring signals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148840"/>
            <a:ext cx="4407408" cy="3017520"/>
          </a:xfrm>
          <a:prstGeom prst="roundRect">
            <a:avLst/>
          </a:prstGeom>
          <a:solidFill>
            <a:srgbClr val="18344E"/>
          </a:solidFill>
          <a:ln w="12700">
            <a:solidFill>
              <a:srgbClr val="365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50608" y="2468880"/>
            <a:ext cx="1828800" cy="274320"/>
          </a:xfrm>
          <a:prstGeom prst="roundRect">
            <a:avLst/>
          </a:prstGeom>
          <a:solidFill>
            <a:srgbClr val="29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500884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7BE0CE"/>
                </a:solidFill>
                <a:latin typeface="Aptos"/>
              </a:defRPr>
            </a:pPr>
            <a:r>
              <a:t>LIMITATIONS TO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9718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Aptos"/>
              </a:defRPr>
            </a:pPr>
            <a:r>
              <a:t>0.702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09067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FE2D3"/>
                </a:solidFill>
                <a:latin typeface="Aptos"/>
              </a:defRPr>
            </a:pPr>
            <a:r>
              <a:t>test ROC 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675887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Before clinical use: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4023360"/>
            <a:ext cx="361188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C1CFD9"/>
                </a:solidFill>
                <a:latin typeface="Aptos"/>
              </a:defRPr>
            </a:pPr>
            <a:r>
              <a:t>External validation  /  calibration</a:t>
            </a:r>
            <a:br/>
            <a:r>
              <a:t>Fairness and subgroup evaluation</a:t>
            </a:r>
            <a:br/>
            <a:r>
              <a:t>Workflow impact and threshold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64184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9BE4D6"/>
                </a:solidFill>
                <a:latin typeface="Aptos"/>
              </a:defRPr>
            </a:pPr>
            <a:r>
              <a:t>NEXT: validate across sites, calibrate the score, and evaluate impact with clinicians.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6071616"/>
            <a:ext cx="104698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A9BBC8"/>
                </a:solidFill>
                <a:latin typeface="Aptos"/>
              </a:defRPr>
            </a:pPr>
            <a:r>
              <a:t>Source: UCI Diabetes 130-US Hospitals dataset  |  Repository docs: README.md + FUNCTIONALITY.md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30-Day Readmission Risk</dc:title>
  <dc:subject>Capstone presentation on a secure, observable readmission risk API</dc:subject>
  <dc:creator>Readmission Risk Capstone Team</dc:creator>
  <cp:keywords>readmission, machine learning, Random Forest, FastAPI, healthcare</cp:keywords>
  <dc:description>Evaluation values are read from artifacts/model_evaluation_report.json.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